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6" r:id="rId2"/>
    <p:sldId id="26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4" r:id="rId12"/>
    <p:sldId id="269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F4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3EA0E-320C-4A15-B0EB-4D07D8BCE7D2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78BAC15-CBEE-4F11-A261-AACFEEC355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1774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3EA0E-320C-4A15-B0EB-4D07D8BCE7D2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BAC15-CBEE-4F11-A261-AACFEEC355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7987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3EA0E-320C-4A15-B0EB-4D07D8BCE7D2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78BAC15-CBEE-4F11-A261-AACFEEC355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5141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3EA0E-320C-4A15-B0EB-4D07D8BCE7D2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78BAC15-CBEE-4F11-A261-AACFEEC355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4650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3EA0E-320C-4A15-B0EB-4D07D8BCE7D2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78BAC15-CBEE-4F11-A261-AACFEEC355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74393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3EA0E-320C-4A15-B0EB-4D07D8BCE7D2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BAC15-CBEE-4F11-A261-AACFEEC355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0333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3EA0E-320C-4A15-B0EB-4D07D8BCE7D2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BAC15-CBEE-4F11-A261-AACFEEC355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7691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3EA0E-320C-4A15-B0EB-4D07D8BCE7D2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BAC15-CBEE-4F11-A261-AACFEEC355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120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3EA0E-320C-4A15-B0EB-4D07D8BCE7D2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78BAC15-CBEE-4F11-A261-AACFEEC355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5570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3EA0E-320C-4A15-B0EB-4D07D8BCE7D2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78BAC15-CBEE-4F11-A261-AACFEEC355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5146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3EA0E-320C-4A15-B0EB-4D07D8BCE7D2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78BAC15-CBEE-4F11-A261-AACFEEC355E0}" type="slidenum">
              <a:rPr lang="fr-FR" smtClean="0"/>
              <a:t>‹N°›</a:t>
            </a:fld>
            <a:endParaRPr lang="fr-FR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220210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3EA0E-320C-4A15-B0EB-4D07D8BCE7D2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78BAC15-CBEE-4F11-A261-AACFEEC355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00601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3EA0E-320C-4A15-B0EB-4D07D8BCE7D2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78BAC15-CBEE-4F11-A261-AACFEEC355E0}" type="slidenum">
              <a:rPr lang="fr-FR" smtClean="0"/>
              <a:t>‹N°›</a:t>
            </a:fld>
            <a:endParaRPr lang="fr-FR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148518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3EA0E-320C-4A15-B0EB-4D07D8BCE7D2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78BAC15-CBEE-4F11-A261-AACFEEC355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52113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3EA0E-320C-4A15-B0EB-4D07D8BCE7D2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BAC15-CBEE-4F11-A261-AACFEEC355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37624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3EA0E-320C-4A15-B0EB-4D07D8BCE7D2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BAC15-CBEE-4F11-A261-AACFEEC355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4441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23EA0E-320C-4A15-B0EB-4D07D8BCE7D2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78BAC15-CBEE-4F11-A261-AACFEEC355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635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B2A8DA-C660-499A-AC9F-646C3C6FD7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36165" y="1172341"/>
            <a:ext cx="2319670" cy="762338"/>
          </a:xfrm>
        </p:spPr>
        <p:txBody>
          <a:bodyPr>
            <a:normAutofit fontScale="90000"/>
          </a:bodyPr>
          <a:lstStyle/>
          <a:p>
            <a:r>
              <a:rPr lang="fr-FR" dirty="0">
                <a:latin typeface="Copperplate Gothic Bold" panose="020E0705020206020404" pitchFamily="34" charset="0"/>
              </a:rPr>
              <a:t>DEMO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6AAB748-1D4E-4BA4-8D67-32305FE8EE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07364" y="2658136"/>
            <a:ext cx="5977271" cy="622394"/>
          </a:xfrm>
        </p:spPr>
        <p:txBody>
          <a:bodyPr>
            <a:normAutofit fontScale="92500" lnSpcReduction="10000"/>
          </a:bodyPr>
          <a:lstStyle/>
          <a:p>
            <a:pPr algn="ctr">
              <a:spcAft>
                <a:spcPts val="500"/>
              </a:spcAft>
            </a:pPr>
            <a:r>
              <a:rPr lang="fr-FR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Agent Intelligent de Collecte et d'Extraction de Données par Automatisation GUI/Web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fr-FR" dirty="0"/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4BB01541-DA8A-4353-950F-EA7CD81338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74700" cy="1028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Image 1">
            <a:extLst>
              <a:ext uri="{FF2B5EF4-FFF2-40B4-BE49-F238E27FC236}">
                <a16:creationId xmlns:a16="http://schemas.microsoft.com/office/drawing/2014/main" id="{67832A72-6568-4C60-87BB-E1172FE439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45850" y="0"/>
            <a:ext cx="946150" cy="946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" name="Image 7">
            <a:extLst>
              <a:ext uri="{FF2B5EF4-FFF2-40B4-BE49-F238E27FC236}">
                <a16:creationId xmlns:a16="http://schemas.microsoft.com/office/drawing/2014/main" id="{49DCE91F-22BD-4EFF-9A2F-F165E3984B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2100" y="219075"/>
            <a:ext cx="1447800" cy="50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re 1">
            <a:extLst>
              <a:ext uri="{FF2B5EF4-FFF2-40B4-BE49-F238E27FC236}">
                <a16:creationId xmlns:a16="http://schemas.microsoft.com/office/drawing/2014/main" id="{48AC8EF7-55AD-4FC9-9CD0-B9766EACF24D}"/>
              </a:ext>
            </a:extLst>
          </p:cNvPr>
          <p:cNvSpPr txBox="1">
            <a:spLocks/>
          </p:cNvSpPr>
          <p:nvPr/>
        </p:nvSpPr>
        <p:spPr>
          <a:xfrm>
            <a:off x="4514257" y="2080621"/>
            <a:ext cx="3163485" cy="43157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37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dirty="0">
                <a:latin typeface="Copperplate Gothic Bold" panose="020E0705020206020404" pitchFamily="34" charset="0"/>
              </a:rPr>
              <a:t>STAGE ACADEMIQUE</a:t>
            </a:r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8B7D0B9C-9135-48D7-B44A-69A99B125312}"/>
              </a:ext>
            </a:extLst>
          </p:cNvPr>
          <p:cNvCxnSpPr/>
          <p:nvPr/>
        </p:nvCxnSpPr>
        <p:spPr>
          <a:xfrm>
            <a:off x="3121961" y="10614471"/>
            <a:ext cx="61176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5">
            <a:extLst>
              <a:ext uri="{FF2B5EF4-FFF2-40B4-BE49-F238E27FC236}">
                <a16:creationId xmlns:a16="http://schemas.microsoft.com/office/drawing/2014/main" id="{9D3D5741-E674-43C6-8026-E33778A91B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5972" y="4119615"/>
            <a:ext cx="5802247" cy="952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fr-FR" sz="1600" b="1" i="1" u="sng" strike="noStrike" cap="none" normalizeH="0" baseline="0" dirty="0">
                <a:ln>
                  <a:noFill/>
                </a:ln>
                <a:solidFill>
                  <a:srgbClr val="26262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Stagiaire</a:t>
            </a:r>
            <a:r>
              <a:rPr kumimoji="0" lang="en-US" altLang="fr-FR" sz="1600" b="1" i="0" u="none" strike="noStrike" cap="none" normalizeH="0" baseline="0" dirty="0">
                <a:ln>
                  <a:noFill/>
                </a:ln>
                <a:solidFill>
                  <a:srgbClr val="26262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: </a:t>
            </a:r>
            <a:r>
              <a:rPr kumimoji="0" lang="en-US" altLang="fr-FR" sz="1600" b="1" i="0" u="none" strike="noStrike" cap="none" normalizeH="0" baseline="0" dirty="0">
                <a:ln>
                  <a:noFill/>
                </a:ln>
                <a:solidFill>
                  <a:srgbClr val="262626"/>
                </a:solidFill>
                <a:effectLst/>
                <a:latin typeface="Imprint MT Shadow" panose="04020605060303030202" pitchFamily="82" charset="0"/>
                <a:ea typeface="Calibri" panose="020F0502020204030204" pitchFamily="34" charset="0"/>
                <a:cs typeface="Times New Roman" panose="02020603050405020304" pitchFamily="18" charset="0"/>
              </a:rPr>
              <a:t>NDJOKA NGHOKO Jodelle Baruch 22E0480EP</a:t>
            </a:r>
            <a:endParaRPr kumimoji="0" lang="fr-FR" altLang="fr-F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F2B8A314-3E9C-41FF-B18F-EB85D9EC1E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6407" y="6381588"/>
            <a:ext cx="304559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4492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400" b="1" i="0" u="none" strike="noStrike" cap="none" normalizeH="0" baseline="0" dirty="0">
                <a:ln>
                  <a:noFill/>
                </a:ln>
                <a:solidFill>
                  <a:srgbClr val="59595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Du 1</a:t>
            </a:r>
            <a:r>
              <a:rPr kumimoji="0" lang="fr-FR" altLang="fr-FR" sz="1400" b="1" i="0" u="none" strike="noStrike" cap="none" normalizeH="0" baseline="30000" dirty="0">
                <a:ln>
                  <a:noFill/>
                </a:ln>
                <a:solidFill>
                  <a:srgbClr val="59595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er</a:t>
            </a:r>
            <a:r>
              <a:rPr kumimoji="0" lang="fr-FR" altLang="fr-FR" sz="1400" b="1" i="0" u="none" strike="noStrike" cap="none" normalizeH="0" baseline="0" dirty="0">
                <a:ln>
                  <a:noFill/>
                </a:ln>
                <a:solidFill>
                  <a:srgbClr val="59595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Juin au 31 Août 2026</a:t>
            </a:r>
            <a:endParaRPr kumimoji="0" lang="fr-FR" altLang="fr-F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D315FC74-39D3-4635-AB24-E743572DE96A}"/>
              </a:ext>
            </a:extLst>
          </p:cNvPr>
          <p:cNvSpPr txBox="1"/>
          <p:nvPr/>
        </p:nvSpPr>
        <p:spPr>
          <a:xfrm>
            <a:off x="2223627" y="4999140"/>
            <a:ext cx="85303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1600" b="1" i="1" u="sng" dirty="0">
                <a:solidFill>
                  <a:srgbClr val="262626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Encadreur de stage </a:t>
            </a:r>
            <a:r>
              <a:rPr lang="fr-F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 </a:t>
            </a:r>
            <a:r>
              <a:rPr lang="fr-FR" sz="1600" b="1" dirty="0" err="1">
                <a:solidFill>
                  <a:srgbClr val="262626"/>
                </a:solidFill>
                <a:latin typeface="Imprint MT Shadow" panose="04020605060303030202" pitchFamily="82" charset="0"/>
                <a:ea typeface="Calibri" panose="020F0502020204030204" pitchFamily="34" charset="0"/>
                <a:cs typeface="Times New Roman" panose="02020603050405020304" pitchFamily="18" charset="0"/>
              </a:rPr>
              <a:t>Yris</a:t>
            </a:r>
            <a:r>
              <a:rPr lang="fr-FR" sz="1600" b="1" dirty="0">
                <a:solidFill>
                  <a:srgbClr val="262626"/>
                </a:solidFill>
                <a:latin typeface="Imprint MT Shadow" panose="04020605060303030202" pitchFamily="82" charset="0"/>
                <a:ea typeface="Calibri" panose="020F0502020204030204" pitchFamily="34" charset="0"/>
                <a:cs typeface="Times New Roman" panose="02020603050405020304" pitchFamily="18" charset="0"/>
              </a:rPr>
              <a:t> Brice </a:t>
            </a:r>
            <a:r>
              <a:rPr lang="fr-FR" sz="1600" b="1" dirty="0" err="1">
                <a:solidFill>
                  <a:srgbClr val="262626"/>
                </a:solidFill>
                <a:latin typeface="Imprint MT Shadow" panose="04020605060303030202" pitchFamily="82" charset="0"/>
                <a:ea typeface="Calibri" panose="020F0502020204030204" pitchFamily="34" charset="0"/>
                <a:cs typeface="Times New Roman" panose="02020603050405020304" pitchFamily="18" charset="0"/>
              </a:rPr>
              <a:t>Wandji</a:t>
            </a:r>
            <a:r>
              <a:rPr lang="fr-FR" sz="1600" b="1" dirty="0">
                <a:solidFill>
                  <a:srgbClr val="262626"/>
                </a:solidFill>
                <a:latin typeface="Imprint MT Shadow" panose="04020605060303030202" pitchFamily="8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600" b="1" dirty="0" err="1">
                <a:solidFill>
                  <a:srgbClr val="262626"/>
                </a:solidFill>
                <a:latin typeface="Imprint MT Shadow" panose="04020605060303030202" pitchFamily="82" charset="0"/>
                <a:ea typeface="Calibri" panose="020F0502020204030204" pitchFamily="34" charset="0"/>
                <a:cs typeface="Times New Roman" panose="02020603050405020304" pitchFamily="18" charset="0"/>
              </a:rPr>
              <a:t>Piugie</a:t>
            </a:r>
            <a:r>
              <a:rPr lang="fr-FR" sz="1600" b="1" dirty="0">
                <a:solidFill>
                  <a:srgbClr val="262626"/>
                </a:solidFill>
                <a:latin typeface="Imprint MT Shadow" panose="04020605060303030202" pitchFamily="82" charset="0"/>
                <a:ea typeface="Calibri" panose="020F0502020204030204" pitchFamily="34" charset="0"/>
                <a:cs typeface="Times New Roman" panose="02020603050405020304" pitchFamily="18" charset="0"/>
              </a:rPr>
              <a:t>, PhD — Fondateur &amp; CEO, YB-</a:t>
            </a:r>
            <a:r>
              <a:rPr lang="fr-FR" sz="1600" b="1" dirty="0" err="1">
                <a:solidFill>
                  <a:srgbClr val="262626"/>
                </a:solidFill>
                <a:latin typeface="Imprint MT Shadow" panose="04020605060303030202" pitchFamily="82" charset="0"/>
                <a:ea typeface="Calibri" panose="020F0502020204030204" pitchFamily="34" charset="0"/>
                <a:cs typeface="Times New Roman" panose="02020603050405020304" pitchFamily="18" charset="0"/>
              </a:rPr>
              <a:t>TECHs</a:t>
            </a:r>
            <a:r>
              <a:rPr lang="fr-FR" sz="1600" b="1" dirty="0">
                <a:solidFill>
                  <a:srgbClr val="262626"/>
                </a:solidFill>
                <a:latin typeface="Imprint MT Shadow" panose="04020605060303030202" pitchFamily="8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CC87B72B-9BC7-4C39-84A2-0AB5C3071A83}"/>
              </a:ext>
            </a:extLst>
          </p:cNvPr>
          <p:cNvSpPr txBox="1"/>
          <p:nvPr/>
        </p:nvSpPr>
        <p:spPr>
          <a:xfrm>
            <a:off x="296869" y="6304644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18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Année académique : </a:t>
            </a:r>
            <a:r>
              <a:rPr lang="fr-FR" sz="1800" b="1" i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2025-2026</a:t>
            </a:r>
            <a:endParaRPr lang="fr-FR" sz="18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3334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9B68A39-D24D-4C3C-894F-09FB4CC50C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3945" y="2917257"/>
            <a:ext cx="8915400" cy="102348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fr-FR" sz="2800" b="1" dirty="0">
                <a:latin typeface="Arial Narrow" panose="020B0606020202030204" pitchFamily="34" charset="0"/>
              </a:rPr>
              <a:t>Cette démonstration est celle du fonctionnement de notre projet sur interface web.</a:t>
            </a:r>
          </a:p>
        </p:txBody>
      </p:sp>
    </p:spTree>
    <p:extLst>
      <p:ext uri="{BB962C8B-B14F-4D97-AF65-F5344CB8AC3E}">
        <p14:creationId xmlns:p14="http://schemas.microsoft.com/office/powerpoint/2010/main" val="3463489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D6BA0636-90E2-4F5B-93D9-CD1C82925BA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6" t="408"/>
          <a:stretch/>
        </p:blipFill>
        <p:spPr>
          <a:xfrm>
            <a:off x="0" y="-72971"/>
            <a:ext cx="12192000" cy="7110047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58D9D793-3BE2-4D62-8C2F-50C46519A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481" y="1636295"/>
            <a:ext cx="2113826" cy="577515"/>
          </a:xfrm>
          <a:ln w="28575"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pperplate Gothic Bold" panose="020E0705020206020404" pitchFamily="34" charset="0"/>
              </a:rPr>
              <a:t>Requête</a:t>
            </a:r>
            <a:endParaRPr lang="fr-FR" dirty="0">
              <a:solidFill>
                <a:srgbClr val="C00000"/>
              </a:solidFill>
              <a:latin typeface="Copperplate Gothic Bold" panose="020E07050202060204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333885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649FFFC6-93EA-43F4-9C92-8F5805754D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937310"/>
          </a:xfrm>
          <a:prstGeom prst="rect">
            <a:avLst/>
          </a:pr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DD0C10F1-A1D3-4CF3-A5A0-9AF1F5F76BCB}"/>
              </a:ext>
            </a:extLst>
          </p:cNvPr>
          <p:cNvSpPr txBox="1">
            <a:spLocks/>
          </p:cNvSpPr>
          <p:nvPr/>
        </p:nvSpPr>
        <p:spPr>
          <a:xfrm>
            <a:off x="1027219" y="3279908"/>
            <a:ext cx="4507308" cy="1879233"/>
          </a:xfrm>
          <a:prstGeom prst="rect">
            <a:avLst/>
          </a:prstGeom>
          <a:ln w="28575" cap="rnd" cmpd="sng" algn="ctr">
            <a:solidFill>
              <a:schemeClr val="accent6">
                <a:shade val="90000"/>
              </a:schemeClr>
            </a:solidFill>
            <a:prstDash val="soli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fr-FR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pperplate Gothic Bold" panose="020E0705020206020404" pitchFamily="34" charset="0"/>
              </a:rPr>
              <a:t>Résultat d’extraction d’informations sur un site et formulation de la réponse par le modèle</a:t>
            </a:r>
          </a:p>
        </p:txBody>
      </p:sp>
    </p:spTree>
    <p:extLst>
      <p:ext uri="{BB962C8B-B14F-4D97-AF65-F5344CB8AC3E}">
        <p14:creationId xmlns:p14="http://schemas.microsoft.com/office/powerpoint/2010/main" val="2345291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23FF8458-A98C-4922-8430-B4C6C8CE42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6" y="0"/>
            <a:ext cx="12155259" cy="6858000"/>
          </a:xfrm>
          <a:prstGeom prst="rect">
            <a:avLst/>
          </a:pr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CFE7F09F-CF6C-414B-9FA9-B066DE016E8E}"/>
              </a:ext>
            </a:extLst>
          </p:cNvPr>
          <p:cNvSpPr txBox="1">
            <a:spLocks/>
          </p:cNvSpPr>
          <p:nvPr/>
        </p:nvSpPr>
        <p:spPr>
          <a:xfrm>
            <a:off x="3570973" y="2704699"/>
            <a:ext cx="3686475" cy="1337912"/>
          </a:xfrm>
          <a:prstGeom prst="rect">
            <a:avLst/>
          </a:prstGeom>
          <a:ln w="28575" cap="rnd" cmpd="sng" algn="ctr">
            <a:solidFill>
              <a:schemeClr val="accent6">
                <a:shade val="90000"/>
              </a:schemeClr>
            </a:solidFill>
            <a:prstDash val="soli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rmAutofit fontScale="90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pperplate Gothic Bold" panose="020E0705020206020404" pitchFamily="34" charset="0"/>
              </a:rPr>
              <a:t>Illustration d’une Conversation naturelle avec le modèle (sans url)</a:t>
            </a:r>
          </a:p>
        </p:txBody>
      </p:sp>
    </p:spTree>
    <p:extLst>
      <p:ext uri="{BB962C8B-B14F-4D97-AF65-F5344CB8AC3E}">
        <p14:creationId xmlns:p14="http://schemas.microsoft.com/office/powerpoint/2010/main" val="2402320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CFC714A9-6A30-48E8-8E10-7FF46E8647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3715352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3E29A079-9314-485E-8C6A-3CE8B68B82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29001"/>
            <a:ext cx="12191999" cy="3636048"/>
          </a:xfrm>
          <a:prstGeom prst="rect">
            <a:avLst/>
          </a:prstGeom>
        </p:spPr>
      </p:pic>
      <p:sp>
        <p:nvSpPr>
          <p:cNvPr id="8" name="Titre 1">
            <a:extLst>
              <a:ext uri="{FF2B5EF4-FFF2-40B4-BE49-F238E27FC236}">
                <a16:creationId xmlns:a16="http://schemas.microsoft.com/office/drawing/2014/main" id="{0F53D5AE-B8EA-4412-87BF-E2DE42979BEF}"/>
              </a:ext>
            </a:extLst>
          </p:cNvPr>
          <p:cNvSpPr txBox="1">
            <a:spLocks/>
          </p:cNvSpPr>
          <p:nvPr/>
        </p:nvSpPr>
        <p:spPr>
          <a:xfrm>
            <a:off x="4560770" y="991297"/>
            <a:ext cx="3070459" cy="943276"/>
          </a:xfrm>
          <a:prstGeom prst="rect">
            <a:avLst/>
          </a:prstGeom>
          <a:ln w="28575" cap="rnd" cmpd="sng" algn="ctr">
            <a:solidFill>
              <a:schemeClr val="accent6">
                <a:shade val="90000"/>
              </a:schemeClr>
            </a:solidFill>
            <a:prstDash val="soli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pperplate Gothic Bold" panose="020E0705020206020404" pitchFamily="34" charset="0"/>
              </a:rPr>
              <a:t>Mise en évidence de la mémoire</a:t>
            </a:r>
          </a:p>
        </p:txBody>
      </p:sp>
    </p:spTree>
    <p:extLst>
      <p:ext uri="{BB962C8B-B14F-4D97-AF65-F5344CB8AC3E}">
        <p14:creationId xmlns:p14="http://schemas.microsoft.com/office/powerpoint/2010/main" val="1885978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FACC82D2-BC7D-4065-A0B2-6308787274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8876"/>
            <a:ext cx="12184943" cy="6886876"/>
          </a:xfrm>
          <a:prstGeom prst="rect">
            <a:avLst/>
          </a:pr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C4865A38-0FD9-433A-937D-E0B9D70CC525}"/>
              </a:ext>
            </a:extLst>
          </p:cNvPr>
          <p:cNvSpPr txBox="1">
            <a:spLocks/>
          </p:cNvSpPr>
          <p:nvPr/>
        </p:nvSpPr>
        <p:spPr>
          <a:xfrm>
            <a:off x="0" y="4966531"/>
            <a:ext cx="3070459" cy="1184012"/>
          </a:xfrm>
          <a:prstGeom prst="rect">
            <a:avLst/>
          </a:prstGeom>
          <a:ln w="28575" cap="rnd" cmpd="sng" algn="ctr">
            <a:solidFill>
              <a:schemeClr val="accent6">
                <a:shade val="90000"/>
              </a:schemeClr>
            </a:solidFill>
            <a:prstDash val="soli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pperplate Gothic Bold" panose="020E0705020206020404" pitchFamily="34" charset="0"/>
              </a:rPr>
              <a:t>Extraction en chaine: Page d’accueil</a:t>
            </a:r>
          </a:p>
        </p:txBody>
      </p:sp>
    </p:spTree>
    <p:extLst>
      <p:ext uri="{BB962C8B-B14F-4D97-AF65-F5344CB8AC3E}">
        <p14:creationId xmlns:p14="http://schemas.microsoft.com/office/powerpoint/2010/main" val="3196599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EC22A3-1669-4AB6-B61A-5FE064E1A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923" y="383479"/>
            <a:ext cx="8911687" cy="1280890"/>
          </a:xfrm>
        </p:spPr>
        <p:txBody>
          <a:bodyPr/>
          <a:lstStyle/>
          <a:p>
            <a:r>
              <a:rPr lang="fr-FR" dirty="0"/>
              <a:t>Ajout du fichier de données pour extraction en chaine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A025F2D-18A2-4164-A43A-31DD7244C8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356888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1993D716-8681-4488-8458-04ADD3909B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89789"/>
            <a:ext cx="12192000" cy="3953483"/>
          </a:xfrm>
          <a:prstGeom prst="rect">
            <a:avLst/>
          </a:prstGeom>
        </p:spPr>
      </p:pic>
      <p:sp>
        <p:nvSpPr>
          <p:cNvPr id="8" name="Titre 1">
            <a:extLst>
              <a:ext uri="{FF2B5EF4-FFF2-40B4-BE49-F238E27FC236}">
                <a16:creationId xmlns:a16="http://schemas.microsoft.com/office/drawing/2014/main" id="{A89A5CDE-D164-452A-B9E3-20C4FEF173DD}"/>
              </a:ext>
            </a:extLst>
          </p:cNvPr>
          <p:cNvSpPr txBox="1">
            <a:spLocks/>
          </p:cNvSpPr>
          <p:nvPr/>
        </p:nvSpPr>
        <p:spPr>
          <a:xfrm>
            <a:off x="4340592" y="2518151"/>
            <a:ext cx="3510816" cy="1050732"/>
          </a:xfrm>
          <a:prstGeom prst="rect">
            <a:avLst/>
          </a:prstGeom>
          <a:ln w="28575" cap="rnd" cmpd="sng" algn="ctr">
            <a:solidFill>
              <a:schemeClr val="accent6">
                <a:shade val="90000"/>
              </a:schemeClr>
            </a:solidFill>
            <a:prstDash val="soli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pperplate Gothic Bold" panose="020E0705020206020404" pitchFamily="34" charset="0"/>
              </a:rPr>
              <a:t>Ajout du fichier de données pour l’extraction en chaine</a:t>
            </a:r>
          </a:p>
        </p:txBody>
      </p:sp>
    </p:spTree>
    <p:extLst>
      <p:ext uri="{BB962C8B-B14F-4D97-AF65-F5344CB8AC3E}">
        <p14:creationId xmlns:p14="http://schemas.microsoft.com/office/powerpoint/2010/main" val="2515326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2B932C-8389-4C33-88DD-5B89938BB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4167" y="267469"/>
            <a:ext cx="8911687" cy="1280890"/>
          </a:xfrm>
        </p:spPr>
        <p:txBody>
          <a:bodyPr>
            <a:normAutofit fontScale="90000"/>
          </a:bodyPr>
          <a:lstStyle/>
          <a:p>
            <a:r>
              <a:rPr lang="fr-FR" dirty="0"/>
              <a:t>Fin de l’extraction en chaine et téléchargement automatique du fichier résultats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9A43388-FA48-4091-9CAA-3034505C8B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101" y="1846742"/>
            <a:ext cx="10420886" cy="5416828"/>
          </a:xfrm>
          <a:prstGeom prst="rect">
            <a:avLst/>
          </a:pr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AF7000DF-B3D3-4335-A874-79BEDF7CDB8A}"/>
              </a:ext>
            </a:extLst>
          </p:cNvPr>
          <p:cNvSpPr txBox="1">
            <a:spLocks/>
          </p:cNvSpPr>
          <p:nvPr/>
        </p:nvSpPr>
        <p:spPr>
          <a:xfrm>
            <a:off x="6545178" y="3031956"/>
            <a:ext cx="2791327" cy="2772078"/>
          </a:xfrm>
          <a:prstGeom prst="rect">
            <a:avLst/>
          </a:prstGeom>
          <a:ln w="28575" cap="rnd" cmpd="sng" algn="ctr">
            <a:solidFill>
              <a:schemeClr val="accent6">
                <a:shade val="90000"/>
              </a:schemeClr>
            </a:solidFill>
            <a:prstDash val="soli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pperplate Gothic Bold" panose="020E0705020206020404" pitchFamily="34" charset="0"/>
              </a:rPr>
              <a:t>Fin de l’extraction en chaine et téléchargement automatique du fichier résultats</a:t>
            </a:r>
          </a:p>
        </p:txBody>
      </p:sp>
    </p:spTree>
    <p:extLst>
      <p:ext uri="{BB962C8B-B14F-4D97-AF65-F5344CB8AC3E}">
        <p14:creationId xmlns:p14="http://schemas.microsoft.com/office/powerpoint/2010/main" val="2037860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933BB650-94F7-40B2-89C4-285D509F99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876" y="-1"/>
            <a:ext cx="12226172" cy="7122696"/>
          </a:xfrm>
          <a:prstGeom prst="rect">
            <a:avLst/>
          </a:pr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94A5A136-AE0E-4645-9CF0-E7788F0608D3}"/>
              </a:ext>
            </a:extLst>
          </p:cNvPr>
          <p:cNvSpPr txBox="1">
            <a:spLocks/>
          </p:cNvSpPr>
          <p:nvPr/>
        </p:nvSpPr>
        <p:spPr>
          <a:xfrm>
            <a:off x="397380" y="3898230"/>
            <a:ext cx="2721205" cy="1520793"/>
          </a:xfrm>
          <a:prstGeom prst="rect">
            <a:avLst/>
          </a:prstGeom>
          <a:ln w="28575" cap="rnd" cmpd="sng" algn="ctr">
            <a:solidFill>
              <a:schemeClr val="accent6">
                <a:shade val="90000"/>
              </a:schemeClr>
            </a:solidFill>
            <a:prstDash val="soli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pperplate Gothic Bold" panose="020E0705020206020404" pitchFamily="34" charset="0"/>
              </a:rPr>
              <a:t>Visualisation de l’historique de discussion</a:t>
            </a:r>
          </a:p>
        </p:txBody>
      </p:sp>
    </p:spTree>
    <p:extLst>
      <p:ext uri="{BB962C8B-B14F-4D97-AF65-F5344CB8AC3E}">
        <p14:creationId xmlns:p14="http://schemas.microsoft.com/office/powerpoint/2010/main" val="1622528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CB995EBA-84DF-44E1-AF19-9642FB0FFF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re 1">
            <a:extLst>
              <a:ext uri="{FF2B5EF4-FFF2-40B4-BE49-F238E27FC236}">
                <a16:creationId xmlns:a16="http://schemas.microsoft.com/office/drawing/2014/main" id="{4AF68BE9-5888-4F22-81A5-D4710200E6C1}"/>
              </a:ext>
            </a:extLst>
          </p:cNvPr>
          <p:cNvSpPr txBox="1">
            <a:spLocks/>
          </p:cNvSpPr>
          <p:nvPr/>
        </p:nvSpPr>
        <p:spPr>
          <a:xfrm>
            <a:off x="416631" y="5053262"/>
            <a:ext cx="2721205" cy="1520793"/>
          </a:xfrm>
          <a:prstGeom prst="rect">
            <a:avLst/>
          </a:prstGeom>
          <a:ln w="28575" cap="rnd" cmpd="sng" algn="ctr">
            <a:solidFill>
              <a:schemeClr val="accent6">
                <a:shade val="90000"/>
              </a:schemeClr>
            </a:solidFill>
            <a:prstDash val="soli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pperplate Gothic Bold" panose="020E0705020206020404" pitchFamily="34" charset="0"/>
              </a:rPr>
              <a:t>Visualisation de l’historique de discussion</a:t>
            </a:r>
          </a:p>
        </p:txBody>
      </p:sp>
    </p:spTree>
    <p:extLst>
      <p:ext uri="{BB962C8B-B14F-4D97-AF65-F5344CB8AC3E}">
        <p14:creationId xmlns:p14="http://schemas.microsoft.com/office/powerpoint/2010/main" val="3877195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E3020DC6-45B7-4E36-B222-1B45E645533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4" t="13293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3051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>
            <a:extLst>
              <a:ext uri="{FF2B5EF4-FFF2-40B4-BE49-F238E27FC236}">
                <a16:creationId xmlns:a16="http://schemas.microsoft.com/office/drawing/2014/main" id="{4BB01541-DA8A-4353-950F-EA7CD81338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74700" cy="1028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Image 1">
            <a:extLst>
              <a:ext uri="{FF2B5EF4-FFF2-40B4-BE49-F238E27FC236}">
                <a16:creationId xmlns:a16="http://schemas.microsoft.com/office/drawing/2014/main" id="{67832A72-6568-4C60-87BB-E1172FE439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45850" y="0"/>
            <a:ext cx="946150" cy="946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" name="Image 7">
            <a:extLst>
              <a:ext uri="{FF2B5EF4-FFF2-40B4-BE49-F238E27FC236}">
                <a16:creationId xmlns:a16="http://schemas.microsoft.com/office/drawing/2014/main" id="{49DCE91F-22BD-4EFF-9A2F-F165E3984B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2100" y="219075"/>
            <a:ext cx="1447800" cy="50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8B7D0B9C-9135-48D7-B44A-69A99B125312}"/>
              </a:ext>
            </a:extLst>
          </p:cNvPr>
          <p:cNvCxnSpPr/>
          <p:nvPr/>
        </p:nvCxnSpPr>
        <p:spPr>
          <a:xfrm>
            <a:off x="3121961" y="10614471"/>
            <a:ext cx="61176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11">
            <a:extLst>
              <a:ext uri="{FF2B5EF4-FFF2-40B4-BE49-F238E27FC236}">
                <a16:creationId xmlns:a16="http://schemas.microsoft.com/office/drawing/2014/main" id="{F2B8A314-3E9C-41FF-B18F-EB85D9EC1E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6407" y="6381588"/>
            <a:ext cx="304559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4492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400" b="1" i="0" u="none" strike="noStrike" cap="none" normalizeH="0" baseline="0" dirty="0">
                <a:ln>
                  <a:noFill/>
                </a:ln>
                <a:solidFill>
                  <a:srgbClr val="59595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Du 1</a:t>
            </a:r>
            <a:r>
              <a:rPr kumimoji="0" lang="fr-FR" altLang="fr-FR" sz="1400" b="1" i="0" u="none" strike="noStrike" cap="none" normalizeH="0" baseline="30000" dirty="0">
                <a:ln>
                  <a:noFill/>
                </a:ln>
                <a:solidFill>
                  <a:srgbClr val="59595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er</a:t>
            </a:r>
            <a:r>
              <a:rPr kumimoji="0" lang="fr-FR" altLang="fr-FR" sz="1400" b="1" i="0" u="none" strike="noStrike" cap="none" normalizeH="0" baseline="0" dirty="0">
                <a:ln>
                  <a:noFill/>
                </a:ln>
                <a:solidFill>
                  <a:srgbClr val="59595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Juin au 31 Août 2026</a:t>
            </a:r>
            <a:endParaRPr kumimoji="0" lang="fr-FR" altLang="fr-F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CC87B72B-9BC7-4C39-84A2-0AB5C3071A83}"/>
              </a:ext>
            </a:extLst>
          </p:cNvPr>
          <p:cNvSpPr txBox="1"/>
          <p:nvPr/>
        </p:nvSpPr>
        <p:spPr>
          <a:xfrm>
            <a:off x="296869" y="6304644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18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Année académique : </a:t>
            </a:r>
            <a:r>
              <a:rPr lang="fr-FR" sz="1800" b="1" i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2025-2026</a:t>
            </a:r>
            <a:endParaRPr lang="fr-FR" sz="18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E8349DBF-89CE-4420-9C96-FFB8C543D5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49367" y="2929446"/>
            <a:ext cx="3890211" cy="999107"/>
          </a:xfrm>
        </p:spPr>
        <p:txBody>
          <a:bodyPr>
            <a:normAutofit/>
          </a:bodyPr>
          <a:lstStyle/>
          <a:p>
            <a:r>
              <a:rPr lang="fr-FR" dirty="0">
                <a:latin typeface="Arial Black" panose="020B0A04020102020204" pitchFamily="34" charset="0"/>
              </a:rPr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2791283793"/>
      </p:ext>
    </p:extLst>
  </p:cSld>
  <p:clrMapOvr>
    <a:masterClrMapping/>
  </p:clrMapOvr>
</p:sld>
</file>

<file path=ppt/theme/theme1.xml><?xml version="1.0" encoding="utf-8"?>
<a:theme xmlns:a="http://schemas.openxmlformats.org/drawingml/2006/main" name="Brin">
  <a:themeElements>
    <a:clrScheme name="Brin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Brin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rin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1602</TotalTime>
  <Words>164</Words>
  <Application>Microsoft Office PowerPoint</Application>
  <PresentationFormat>Grand écran</PresentationFormat>
  <Paragraphs>22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23" baseType="lpstr">
      <vt:lpstr>Arial</vt:lpstr>
      <vt:lpstr>Arial Black</vt:lpstr>
      <vt:lpstr>Arial Narrow</vt:lpstr>
      <vt:lpstr>Calibri</vt:lpstr>
      <vt:lpstr>Century Gothic</vt:lpstr>
      <vt:lpstr>Copperplate Gothic Bold</vt:lpstr>
      <vt:lpstr>Imprint MT Shadow</vt:lpstr>
      <vt:lpstr>Times New Roman</vt:lpstr>
      <vt:lpstr>Wingdings 3</vt:lpstr>
      <vt:lpstr>Brin</vt:lpstr>
      <vt:lpstr>DEMO</vt:lpstr>
      <vt:lpstr>Présentation PowerPoint</vt:lpstr>
      <vt:lpstr>Requête</vt:lpstr>
      <vt:lpstr>Présentation PowerPoint</vt:lpstr>
      <vt:lpstr>Présentation PowerPoint</vt:lpstr>
      <vt:lpstr>Présentation PowerPoint</vt:lpstr>
      <vt:lpstr>Présentation PowerPoint</vt:lpstr>
      <vt:lpstr>Ajout du fichier de données pour extraction en chaine</vt:lpstr>
      <vt:lpstr>Fin de l’extraction en chaine et téléchargement automatique du fichier résultats</vt:lpstr>
      <vt:lpstr>Présentation PowerPoint</vt:lpstr>
      <vt:lpstr>Présentation PowerPoint</vt:lpstr>
      <vt:lpstr>Présentation PowerPoint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DEMO</dc:title>
  <dc:creator>Jodel N</dc:creator>
  <cp:lastModifiedBy>Jodel N</cp:lastModifiedBy>
  <cp:revision>14</cp:revision>
  <dcterms:created xsi:type="dcterms:W3CDTF">2026-08-31T12:21:38Z</dcterms:created>
  <dcterms:modified xsi:type="dcterms:W3CDTF">2026-09-01T15:04:06Z</dcterms:modified>
</cp:coreProperties>
</file>